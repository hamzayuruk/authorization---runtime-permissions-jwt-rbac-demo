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Roboto" panose="02000000000000000000" pitchFamily="2" charset="0"/>
      <p:regular r:id="rId18"/>
    </p:embeddedFont>
    <p:embeddedFont>
      <p:font typeface="Roboto Bold" panose="02000000000000000000" charset="0"/>
      <p:regular r:id="rId19"/>
    </p:embeddedFont>
    <p:embeddedFont>
      <p:font typeface="Roboto Bold Italics" panose="020B0604020202020204" charset="0"/>
      <p:regular r:id="rId20"/>
    </p:embeddedFont>
    <p:embeddedFont>
      <p:font typeface="Roboto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0956" y="8326960"/>
            <a:ext cx="4086112" cy="931340"/>
            <a:chOff x="0" y="0"/>
            <a:chExt cx="1076178" cy="2452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6178" cy="245291"/>
            </a:xfrm>
            <a:custGeom>
              <a:avLst/>
              <a:gdLst/>
              <a:ahLst/>
              <a:cxnLst/>
              <a:rect l="l" t="t" r="r" b="b"/>
              <a:pathLst>
                <a:path w="1076178" h="245291">
                  <a:moveTo>
                    <a:pt x="0" y="0"/>
                  </a:moveTo>
                  <a:lnTo>
                    <a:pt x="1076178" y="0"/>
                  </a:lnTo>
                  <a:lnTo>
                    <a:pt x="1076178" y="245291"/>
                  </a:lnTo>
                  <a:lnTo>
                    <a:pt x="0" y="245291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076178" cy="388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 flipV="1">
            <a:off x="12070397" y="-275867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7373415" y="6649480"/>
                </a:moveTo>
                <a:lnTo>
                  <a:pt x="0" y="6649480"/>
                </a:lnTo>
                <a:lnTo>
                  <a:pt x="0" y="0"/>
                </a:lnTo>
                <a:lnTo>
                  <a:pt x="7373415" y="0"/>
                </a:lnTo>
                <a:lnTo>
                  <a:pt x="7373415" y="66494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3357950" y="4713030"/>
            <a:ext cx="5600120" cy="5600120"/>
          </a:xfrm>
          <a:custGeom>
            <a:avLst/>
            <a:gdLst/>
            <a:ahLst/>
            <a:cxnLst/>
            <a:rect l="l" t="t" r="r" b="b"/>
            <a:pathLst>
              <a:path w="5600120" h="5600120">
                <a:moveTo>
                  <a:pt x="5600120" y="0"/>
                </a:moveTo>
                <a:lnTo>
                  <a:pt x="0" y="0"/>
                </a:lnTo>
                <a:lnTo>
                  <a:pt x="0" y="5600120"/>
                </a:lnTo>
                <a:lnTo>
                  <a:pt x="5600120" y="5600120"/>
                </a:lnTo>
                <a:lnTo>
                  <a:pt x="56001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50956" y="3190203"/>
            <a:ext cx="11658302" cy="150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63"/>
              </a:lnSpc>
            </a:pPr>
            <a:r>
              <a:rPr lang="en-US" sz="11263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Authorization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0124" y="8506880"/>
            <a:ext cx="390777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Osman Anıl Yalçın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0956" y="1460113"/>
            <a:ext cx="817222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Mobil Programlamada Yetkilendirme Stratejileri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0956" y="4614753"/>
            <a:ext cx="11182198" cy="528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6"/>
              </a:lnSpc>
            </a:pPr>
            <a:r>
              <a:rPr lang="en-US" sz="3906">
                <a:solidFill>
                  <a:srgbClr val="00167A"/>
                </a:solidFill>
                <a:latin typeface="Roboto"/>
                <a:ea typeface="Roboto"/>
                <a:cs typeface="Roboto"/>
                <a:sym typeface="Roboto"/>
              </a:rPr>
              <a:t>Runtime Permissions, JWT ve RBAC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637057" y="8326960"/>
            <a:ext cx="4086112" cy="931340"/>
            <a:chOff x="0" y="0"/>
            <a:chExt cx="1076178" cy="2452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6178" cy="245291"/>
            </a:xfrm>
            <a:custGeom>
              <a:avLst/>
              <a:gdLst/>
              <a:ahLst/>
              <a:cxnLst/>
              <a:rect l="l" t="t" r="r" b="b"/>
              <a:pathLst>
                <a:path w="1076178" h="245291">
                  <a:moveTo>
                    <a:pt x="0" y="0"/>
                  </a:moveTo>
                  <a:lnTo>
                    <a:pt x="1076178" y="0"/>
                  </a:lnTo>
                  <a:lnTo>
                    <a:pt x="1076178" y="245291"/>
                  </a:lnTo>
                  <a:lnTo>
                    <a:pt x="0" y="245291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42875"/>
              <a:ext cx="1076178" cy="388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726226" y="8506880"/>
            <a:ext cx="390777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Hamza Yürük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37577" y="3004245"/>
            <a:ext cx="7841443" cy="0"/>
          </a:xfrm>
          <a:prstGeom prst="line">
            <a:avLst/>
          </a:prstGeom>
          <a:ln w="28575" cap="flat">
            <a:solidFill>
              <a:srgbClr val="639FC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1028700"/>
            <a:ext cx="5973464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İçindekiler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0534" y="2187285"/>
            <a:ext cx="4988658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Yetkilendirme (Authorization) Nedir?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9027" y="2393929"/>
            <a:ext cx="845924" cy="41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0534" y="3042987"/>
            <a:ext cx="5251306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Authentication ve Authorization Farkı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9027" y="3249631"/>
            <a:ext cx="845924" cy="41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00534" y="3898689"/>
            <a:ext cx="6428472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Runtime Permissions (Çalışma Zamanı İzinleri)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9027" y="4105333"/>
            <a:ext cx="845924" cy="41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0534" y="4754391"/>
            <a:ext cx="4988658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Token Tabanlı Yetkilendirme &amp; JWT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09027" y="4961035"/>
            <a:ext cx="845924" cy="41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00534" y="5610093"/>
            <a:ext cx="4988658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Cihaz Üzerinde Güvenli Veri Saklama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09027" y="5816737"/>
            <a:ext cx="845924" cy="41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00534" y="6465795"/>
            <a:ext cx="4988658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Rol Tabanlı Erişim Kontrolü (RBAC)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09027" y="6672439"/>
            <a:ext cx="845924" cy="41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00534" y="7321497"/>
            <a:ext cx="3500316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Canlı Uygulama Demosu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09027" y="7528141"/>
            <a:ext cx="845924" cy="41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</a:p>
        </p:txBody>
      </p:sp>
      <p:sp>
        <p:nvSpPr>
          <p:cNvPr id="18" name="Freeform 18"/>
          <p:cNvSpPr/>
          <p:nvPr/>
        </p:nvSpPr>
        <p:spPr>
          <a:xfrm>
            <a:off x="0" y="4105089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0" y="0"/>
                </a:moveTo>
                <a:lnTo>
                  <a:pt x="7373415" y="0"/>
                </a:lnTo>
                <a:lnTo>
                  <a:pt x="7373415" y="6649480"/>
                </a:lnTo>
                <a:lnTo>
                  <a:pt x="0" y="6649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>
            <a:off x="8837577" y="3864068"/>
            <a:ext cx="7841443" cy="0"/>
          </a:xfrm>
          <a:prstGeom prst="line">
            <a:avLst/>
          </a:prstGeom>
          <a:ln w="28575" cap="flat">
            <a:solidFill>
              <a:srgbClr val="639FC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8837577" y="4723891"/>
            <a:ext cx="7841443" cy="0"/>
          </a:xfrm>
          <a:prstGeom prst="line">
            <a:avLst/>
          </a:prstGeom>
          <a:ln w="28575" cap="flat">
            <a:solidFill>
              <a:srgbClr val="639FC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8837577" y="5583714"/>
            <a:ext cx="7841443" cy="0"/>
          </a:xfrm>
          <a:prstGeom prst="line">
            <a:avLst/>
          </a:prstGeom>
          <a:ln w="28575" cap="flat">
            <a:solidFill>
              <a:srgbClr val="639FC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8837577" y="6443537"/>
            <a:ext cx="7841443" cy="0"/>
          </a:xfrm>
          <a:prstGeom prst="line">
            <a:avLst/>
          </a:prstGeom>
          <a:ln w="28575" cap="flat">
            <a:solidFill>
              <a:srgbClr val="639FC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8837577" y="7303360"/>
            <a:ext cx="7841443" cy="0"/>
          </a:xfrm>
          <a:prstGeom prst="line">
            <a:avLst/>
          </a:prstGeom>
          <a:ln w="28575" cap="flat">
            <a:solidFill>
              <a:srgbClr val="639FC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9476" y="1189077"/>
            <a:ext cx="10589047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Yetkilendirme (Authorization) Nedir?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80680" y="5623559"/>
            <a:ext cx="14526640" cy="363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4139"/>
              </a:lnSpc>
              <a:buFont typeface="Arial"/>
              <a:buChar char="•"/>
            </a:pPr>
            <a:r>
              <a:rPr lang="en-US" sz="22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Erişim Kontrolü: "Bu kullanıcı bu dosyayı okuyabilir mi?", "Bu buton bu kullanıcıda aktif olmalı mı?" sorularına cevap verir.</a:t>
            </a:r>
          </a:p>
          <a:p>
            <a:pPr marL="496567" lvl="1" indent="-248284" algn="l">
              <a:lnSpc>
                <a:spcPts val="4139"/>
              </a:lnSpc>
              <a:buFont typeface="Arial"/>
              <a:buChar char="•"/>
            </a:pPr>
            <a:r>
              <a:rPr lang="en-US" sz="22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Donanım Erişimi: Mobil cihazlarda kamera, konum, mikrofon gibi fiziksel donanımlara erişim yetkisini kapsar.</a:t>
            </a:r>
          </a:p>
          <a:p>
            <a:pPr marL="496567" lvl="1" indent="-248284" algn="l">
              <a:lnSpc>
                <a:spcPts val="4139"/>
              </a:lnSpc>
              <a:buFont typeface="Arial"/>
              <a:buChar char="•"/>
            </a:pPr>
            <a:r>
              <a:rPr lang="en-US" sz="22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Veri Güvenliği: Kullanıcıların sadece kendi görebilecekleri (veya yetkili oldukları) verilere ulaşmasını sağlar.</a:t>
            </a:r>
          </a:p>
          <a:p>
            <a:pPr marL="496567" lvl="1" indent="-248284" algn="l">
              <a:lnSpc>
                <a:spcPts val="4139"/>
              </a:lnSpc>
              <a:buFont typeface="Arial"/>
              <a:buChar char="•"/>
            </a:pPr>
            <a:r>
              <a:rPr lang="en-US" sz="22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En Az Yetki İlkesi (Principle of Least Privilege): Bir kullanıcıya sadece işini yapması için gereken minimum yetkinin verilmesi prensibidir.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80680" y="4104865"/>
            <a:ext cx="14526640" cy="1243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Kimliği doğrulanmış bir kullanıcının veya uygulamanın, sistem üzerindeki hangi kaynaklara, verilere veya özelliklere erişebileceğini belirleme sürecidir.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2070397" y="-738276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7373415" y="6649480"/>
                </a:moveTo>
                <a:lnTo>
                  <a:pt x="0" y="6649480"/>
                </a:lnTo>
                <a:lnTo>
                  <a:pt x="0" y="0"/>
                </a:lnTo>
                <a:lnTo>
                  <a:pt x="7373415" y="0"/>
                </a:lnTo>
                <a:lnTo>
                  <a:pt x="7373415" y="66494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925034" y="-738276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0" y="6649480"/>
                </a:moveTo>
                <a:lnTo>
                  <a:pt x="7373415" y="6649480"/>
                </a:lnTo>
                <a:lnTo>
                  <a:pt x="7373415" y="0"/>
                </a:lnTo>
                <a:lnTo>
                  <a:pt x="0" y="0"/>
                </a:lnTo>
                <a:lnTo>
                  <a:pt x="0" y="66494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7569" y="3391397"/>
            <a:ext cx="8229235" cy="5911512"/>
            <a:chOff x="0" y="0"/>
            <a:chExt cx="2167371" cy="15569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371" cy="1556941"/>
            </a:xfrm>
            <a:custGeom>
              <a:avLst/>
              <a:gdLst/>
              <a:ahLst/>
              <a:cxnLst/>
              <a:rect l="l" t="t" r="r" b="b"/>
              <a:pathLst>
                <a:path w="2167371" h="1556941">
                  <a:moveTo>
                    <a:pt x="41394" y="0"/>
                  </a:moveTo>
                  <a:lnTo>
                    <a:pt x="2125976" y="0"/>
                  </a:lnTo>
                  <a:cubicBezTo>
                    <a:pt x="2148838" y="0"/>
                    <a:pt x="2167371" y="18533"/>
                    <a:pt x="2167371" y="41394"/>
                  </a:cubicBezTo>
                  <a:lnTo>
                    <a:pt x="2167371" y="1515547"/>
                  </a:lnTo>
                  <a:cubicBezTo>
                    <a:pt x="2167371" y="1538409"/>
                    <a:pt x="2148838" y="1556941"/>
                    <a:pt x="2125976" y="1556941"/>
                  </a:cubicBezTo>
                  <a:lnTo>
                    <a:pt x="41394" y="1556941"/>
                  </a:lnTo>
                  <a:cubicBezTo>
                    <a:pt x="18533" y="1556941"/>
                    <a:pt x="0" y="1538409"/>
                    <a:pt x="0" y="1515547"/>
                  </a:cubicBezTo>
                  <a:lnTo>
                    <a:pt x="0" y="41394"/>
                  </a:lnTo>
                  <a:cubicBezTo>
                    <a:pt x="0" y="18533"/>
                    <a:pt x="18533" y="0"/>
                    <a:pt x="41394" y="0"/>
                  </a:cubicBezTo>
                  <a:close/>
                </a:path>
              </a:pathLst>
            </a:custGeom>
            <a:solidFill>
              <a:srgbClr val="1250A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2167371" cy="167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4017" y="3391397"/>
            <a:ext cx="8229235" cy="5866903"/>
            <a:chOff x="0" y="0"/>
            <a:chExt cx="2167371" cy="15451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371" cy="1545193"/>
            </a:xfrm>
            <a:custGeom>
              <a:avLst/>
              <a:gdLst/>
              <a:ahLst/>
              <a:cxnLst/>
              <a:rect l="l" t="t" r="r" b="b"/>
              <a:pathLst>
                <a:path w="2167371" h="1545193">
                  <a:moveTo>
                    <a:pt x="41394" y="0"/>
                  </a:moveTo>
                  <a:lnTo>
                    <a:pt x="2125976" y="0"/>
                  </a:lnTo>
                  <a:cubicBezTo>
                    <a:pt x="2148838" y="0"/>
                    <a:pt x="2167371" y="18533"/>
                    <a:pt x="2167371" y="41394"/>
                  </a:cubicBezTo>
                  <a:lnTo>
                    <a:pt x="2167371" y="1503798"/>
                  </a:lnTo>
                  <a:cubicBezTo>
                    <a:pt x="2167371" y="1526660"/>
                    <a:pt x="2148838" y="1545193"/>
                    <a:pt x="2125976" y="1545193"/>
                  </a:cubicBezTo>
                  <a:lnTo>
                    <a:pt x="41394" y="1545193"/>
                  </a:lnTo>
                  <a:cubicBezTo>
                    <a:pt x="18533" y="1545193"/>
                    <a:pt x="0" y="1526660"/>
                    <a:pt x="0" y="1503798"/>
                  </a:cubicBezTo>
                  <a:lnTo>
                    <a:pt x="0" y="41394"/>
                  </a:lnTo>
                  <a:cubicBezTo>
                    <a:pt x="0" y="18533"/>
                    <a:pt x="18533" y="0"/>
                    <a:pt x="41394" y="0"/>
                  </a:cubicBezTo>
                  <a:close/>
                </a:path>
              </a:pathLst>
            </a:custGeom>
            <a:solidFill>
              <a:srgbClr val="1250A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2167371" cy="1659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35401" y="581373"/>
            <a:ext cx="10017199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Authentication vs. Authorization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448175"/>
            <a:ext cx="7518717" cy="399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Temel Soru: "Sen gerçekte kimsin?"</a:t>
            </a:r>
          </a:p>
          <a:p>
            <a:pPr algn="ctr">
              <a:lnSpc>
                <a:spcPts val="2879"/>
              </a:lnSpc>
            </a:pPr>
            <a:endParaRPr lang="en-US" sz="2400">
              <a:solidFill>
                <a:srgbClr val="F9F6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Amacı: Kullanıcının iddia ettiği kişi olduğunu doğrular.</a:t>
            </a:r>
          </a:p>
          <a:p>
            <a:pPr algn="ctr">
              <a:lnSpc>
                <a:spcPts val="2879"/>
              </a:lnSpc>
            </a:pPr>
            <a:endParaRPr lang="en-US" sz="2400">
              <a:solidFill>
                <a:srgbClr val="F9F6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Süreç: Kullanıcı sisteme girmeye çalıştığında gerçekleşir.</a:t>
            </a:r>
          </a:p>
          <a:p>
            <a:pPr algn="ctr">
              <a:lnSpc>
                <a:spcPts val="2879"/>
              </a:lnSpc>
            </a:pPr>
            <a:endParaRPr lang="en-US" sz="2400">
              <a:solidFill>
                <a:srgbClr val="F9F6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Örnekler:</a:t>
            </a:r>
          </a:p>
          <a:p>
            <a:pPr marL="518160" lvl="1" indent="-259080" algn="ctr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Kullanıcı adı ve şifre girişi</a:t>
            </a:r>
          </a:p>
          <a:p>
            <a:pPr marL="518160" lvl="1" indent="-259080" algn="ctr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Parmak izi veya Yüz tanıma (FaceID)</a:t>
            </a:r>
          </a:p>
          <a:p>
            <a:pPr marL="518160" lvl="1" indent="-259080" algn="ctr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SMS veya E-posta doğrulama kodları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45662" y="3681797"/>
            <a:ext cx="537304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1">
                <a:solidFill>
                  <a:srgbClr val="F9F6FF"/>
                </a:solidFill>
                <a:latin typeface="Roboto Bold"/>
                <a:ea typeface="Roboto Bold"/>
                <a:cs typeface="Roboto Bold"/>
                <a:sym typeface="Roboto Bold"/>
              </a:rPr>
              <a:t>Authentication (AuthN)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61547" y="3681797"/>
            <a:ext cx="515417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1">
                <a:solidFill>
                  <a:srgbClr val="F9F6FF"/>
                </a:solidFill>
                <a:latin typeface="Roboto Bold"/>
                <a:ea typeface="Roboto Bold"/>
                <a:cs typeface="Roboto Bold"/>
                <a:sym typeface="Roboto Bold"/>
              </a:rPr>
              <a:t>Authorization (AuthZ)</a:t>
            </a:r>
          </a:p>
        </p:txBody>
      </p:sp>
      <p:sp>
        <p:nvSpPr>
          <p:cNvPr id="12" name="Freeform 12"/>
          <p:cNvSpPr/>
          <p:nvPr/>
        </p:nvSpPr>
        <p:spPr>
          <a:xfrm flipH="1" flipV="1">
            <a:off x="14107241" y="-874721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5306098" y="4785136"/>
                </a:moveTo>
                <a:lnTo>
                  <a:pt x="0" y="4785136"/>
                </a:lnTo>
                <a:lnTo>
                  <a:pt x="0" y="0"/>
                </a:lnTo>
                <a:lnTo>
                  <a:pt x="5306098" y="0"/>
                </a:lnTo>
                <a:lnTo>
                  <a:pt x="5306098" y="47851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V="1">
            <a:off x="-1125339" y="-874721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0" y="4785136"/>
                </a:moveTo>
                <a:lnTo>
                  <a:pt x="5306098" y="4785136"/>
                </a:lnTo>
                <a:lnTo>
                  <a:pt x="5306098" y="0"/>
                </a:lnTo>
                <a:lnTo>
                  <a:pt x="0" y="0"/>
                </a:lnTo>
                <a:lnTo>
                  <a:pt x="0" y="47851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740583" y="4448175"/>
            <a:ext cx="7518717" cy="435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Temel Soru: "Neleri yapmaya veya görmeye yetkin var?"</a:t>
            </a:r>
          </a:p>
          <a:p>
            <a:pPr algn="ctr">
              <a:lnSpc>
                <a:spcPts val="2879"/>
              </a:lnSpc>
            </a:pPr>
            <a:endParaRPr lang="en-US" sz="2400">
              <a:solidFill>
                <a:srgbClr val="F9F6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Amacı: Giriş yapmış olan kişinin yetki sınırlarını belirler</a:t>
            </a:r>
          </a:p>
          <a:p>
            <a:pPr algn="ctr">
              <a:lnSpc>
                <a:spcPts val="2879"/>
              </a:lnSpc>
            </a:pPr>
            <a:endParaRPr lang="en-US" sz="2400">
              <a:solidFill>
                <a:srgbClr val="F9F6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Süreç: Kullanıcı sisteme giriş yaptıktan sonra sürekli devam eder.</a:t>
            </a:r>
          </a:p>
          <a:p>
            <a:pPr algn="ctr">
              <a:lnSpc>
                <a:spcPts val="2879"/>
              </a:lnSpc>
            </a:pPr>
            <a:endParaRPr lang="en-US" sz="2400">
              <a:solidFill>
                <a:srgbClr val="F9F6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Örnekler:</a:t>
            </a:r>
          </a:p>
          <a:p>
            <a:pPr marL="518160" lvl="1" indent="-259080" algn="ctr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Cihaz donanımlarına erişim (Kamera, Konum izni)</a:t>
            </a:r>
          </a:p>
          <a:p>
            <a:pPr marL="518160" lvl="1" indent="-259080" algn="ctr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Kullanıcı rolleri (Admin'in silme yetkisi, User'ın sadece okuma yetkisi)</a:t>
            </a:r>
          </a:p>
          <a:p>
            <a:pPr marL="518160" lvl="1" indent="-259080" algn="ctr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9F6FF"/>
                </a:solidFill>
                <a:latin typeface="Roboto"/>
                <a:ea typeface="Roboto"/>
                <a:cs typeface="Roboto"/>
                <a:sym typeface="Roboto"/>
              </a:rPr>
              <a:t>Uygulama içi özel sayfalara erişim kısıtlamaları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7942" y="3214628"/>
            <a:ext cx="5766383" cy="2627893"/>
            <a:chOff x="0" y="0"/>
            <a:chExt cx="1518718" cy="6921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8718" cy="692120"/>
            </a:xfrm>
            <a:custGeom>
              <a:avLst/>
              <a:gdLst/>
              <a:ahLst/>
              <a:cxnLst/>
              <a:rect l="l" t="t" r="r" b="b"/>
              <a:pathLst>
                <a:path w="1518718" h="692120">
                  <a:moveTo>
                    <a:pt x="0" y="0"/>
                  </a:moveTo>
                  <a:lnTo>
                    <a:pt x="1518718" y="0"/>
                  </a:lnTo>
                  <a:lnTo>
                    <a:pt x="1518718" y="692120"/>
                  </a:lnTo>
                  <a:lnTo>
                    <a:pt x="0" y="692120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52400"/>
              <a:ext cx="1518718" cy="844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80629" y="6056918"/>
            <a:ext cx="5766383" cy="2627893"/>
            <a:chOff x="0" y="0"/>
            <a:chExt cx="1518718" cy="692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8718" cy="692120"/>
            </a:xfrm>
            <a:custGeom>
              <a:avLst/>
              <a:gdLst/>
              <a:ahLst/>
              <a:cxnLst/>
              <a:rect l="l" t="t" r="r" b="b"/>
              <a:pathLst>
                <a:path w="1518718" h="692120">
                  <a:moveTo>
                    <a:pt x="0" y="0"/>
                  </a:moveTo>
                  <a:lnTo>
                    <a:pt x="1518718" y="0"/>
                  </a:lnTo>
                  <a:lnTo>
                    <a:pt x="1518718" y="692120"/>
                  </a:lnTo>
                  <a:lnTo>
                    <a:pt x="0" y="692120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52400"/>
              <a:ext cx="1518718" cy="844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12024" y="3214628"/>
            <a:ext cx="5766383" cy="2627893"/>
            <a:chOff x="0" y="0"/>
            <a:chExt cx="1518718" cy="692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8718" cy="692120"/>
            </a:xfrm>
            <a:custGeom>
              <a:avLst/>
              <a:gdLst/>
              <a:ahLst/>
              <a:cxnLst/>
              <a:rect l="l" t="t" r="r" b="b"/>
              <a:pathLst>
                <a:path w="1518718" h="692120">
                  <a:moveTo>
                    <a:pt x="0" y="0"/>
                  </a:moveTo>
                  <a:lnTo>
                    <a:pt x="1518718" y="0"/>
                  </a:lnTo>
                  <a:lnTo>
                    <a:pt x="1518718" y="692120"/>
                  </a:lnTo>
                  <a:lnTo>
                    <a:pt x="0" y="692120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52400"/>
              <a:ext cx="1518718" cy="844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34710" y="6056918"/>
            <a:ext cx="5766383" cy="2627893"/>
            <a:chOff x="0" y="0"/>
            <a:chExt cx="1518718" cy="692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8718" cy="692120"/>
            </a:xfrm>
            <a:custGeom>
              <a:avLst/>
              <a:gdLst/>
              <a:ahLst/>
              <a:cxnLst/>
              <a:rect l="l" t="t" r="r" b="b"/>
              <a:pathLst>
                <a:path w="1518718" h="692120">
                  <a:moveTo>
                    <a:pt x="0" y="0"/>
                  </a:moveTo>
                  <a:lnTo>
                    <a:pt x="1518718" y="0"/>
                  </a:lnTo>
                  <a:lnTo>
                    <a:pt x="1518718" y="692120"/>
                  </a:lnTo>
                  <a:lnTo>
                    <a:pt x="0" y="692120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52400"/>
              <a:ext cx="1518718" cy="844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528578"/>
            <a:ext cx="12320464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Runtime Permissions (Çalışma Zamanı İzinleri)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60851" y="3407987"/>
            <a:ext cx="536056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İhtiyaç Anında Talep: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83537" y="6303971"/>
            <a:ext cx="536056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İzin Kategorileri: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60851" y="4061812"/>
            <a:ext cx="5122179" cy="13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81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İzinler artık uygulama mağazadan indirilirken toptan istenmez. Sadece o özelliğe (örneğin kamera butonuna) tıklandığı anda anlık olarak istenir (Android 6.0 ve sonrası).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46144" y="3407987"/>
            <a:ext cx="536056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Kullanıcı Gizliliği ve Şeffaflık: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37619" y="6261621"/>
            <a:ext cx="536056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Graceful Degradation:</a:t>
            </a:r>
          </a:p>
        </p:txBody>
      </p:sp>
      <p:sp>
        <p:nvSpPr>
          <p:cNvPr id="20" name="Freeform 20"/>
          <p:cNvSpPr/>
          <p:nvPr/>
        </p:nvSpPr>
        <p:spPr>
          <a:xfrm flipH="1" flipV="1">
            <a:off x="13849113" y="-967989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5306098" y="4785136"/>
                </a:moveTo>
                <a:lnTo>
                  <a:pt x="0" y="4785136"/>
                </a:lnTo>
                <a:lnTo>
                  <a:pt x="0" y="0"/>
                </a:lnTo>
                <a:lnTo>
                  <a:pt x="5306098" y="0"/>
                </a:lnTo>
                <a:lnTo>
                  <a:pt x="5306098" y="47851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495107" y="5351547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0" y="0"/>
                </a:moveTo>
                <a:lnTo>
                  <a:pt x="5306098" y="0"/>
                </a:lnTo>
                <a:lnTo>
                  <a:pt x="5306098" y="4785135"/>
                </a:lnTo>
                <a:lnTo>
                  <a:pt x="0" y="4785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683537" y="6763574"/>
            <a:ext cx="5122179" cy="174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81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İnternet erişimi gibi risk taşımayan "Normal" izinler sistem tarafından otomatik verilirken; Konum, Rehber ve Kamera gibi "Tehlikeli (Dangerous)" izinler için ekranda mutlaka onay penceresi çıkması zorunludur.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37619" y="6763574"/>
            <a:ext cx="5122179" cy="136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81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Kullanıcı izni reddetse dahi uygulama çökmemeli (crash olmamalı), sadece ilgili özelliği devre dışı bırakarak akıcı bir şekilde çalışmaya devam etmelidir.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4932" y="4061812"/>
            <a:ext cx="5122179" cy="13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81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Kullanıcı, uygulamanın hangi donanıma ne zaman eriştiğini net bir şekilde görür. İnisiyatif tamamen kullanıcıdadır ve izinler sonradan ayarlardan geri alınabilir.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0332" y="2515774"/>
            <a:ext cx="12321169" cy="1183489"/>
            <a:chOff x="0" y="0"/>
            <a:chExt cx="3245082" cy="3117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45082" cy="311701"/>
            </a:xfrm>
            <a:custGeom>
              <a:avLst/>
              <a:gdLst/>
              <a:ahLst/>
              <a:cxnLst/>
              <a:rect l="l" t="t" r="r" b="b"/>
              <a:pathLst>
                <a:path w="3245082" h="311701">
                  <a:moveTo>
                    <a:pt x="0" y="0"/>
                  </a:moveTo>
                  <a:lnTo>
                    <a:pt x="3245082" y="0"/>
                  </a:lnTo>
                  <a:lnTo>
                    <a:pt x="3245082" y="311701"/>
                  </a:lnTo>
                  <a:lnTo>
                    <a:pt x="0" y="311701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3245082" cy="4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2016" y="2735222"/>
            <a:ext cx="744592" cy="74459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0A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623896"/>
            <a:ext cx="14050883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İzin İsteme İş Akışı (Workflow)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7924" y="2888443"/>
            <a:ext cx="1207128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İzin Kontrolü (Check Permission)</a:t>
            </a:r>
          </a:p>
        </p:txBody>
      </p:sp>
      <p:sp>
        <p:nvSpPr>
          <p:cNvPr id="10" name="Freeform 10"/>
          <p:cNvSpPr/>
          <p:nvPr/>
        </p:nvSpPr>
        <p:spPr>
          <a:xfrm flipH="1" flipV="1">
            <a:off x="13849113" y="-967989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5306098" y="4785136"/>
                </a:moveTo>
                <a:lnTo>
                  <a:pt x="0" y="4785136"/>
                </a:lnTo>
                <a:lnTo>
                  <a:pt x="0" y="0"/>
                </a:lnTo>
                <a:lnTo>
                  <a:pt x="5306098" y="0"/>
                </a:lnTo>
                <a:lnTo>
                  <a:pt x="5306098" y="47851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686649" y="6024839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0" y="0"/>
                </a:moveTo>
                <a:lnTo>
                  <a:pt x="5306098" y="0"/>
                </a:lnTo>
                <a:lnTo>
                  <a:pt x="5306098" y="4785136"/>
                </a:lnTo>
                <a:lnTo>
                  <a:pt x="0" y="4785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82290" y="2878918"/>
            <a:ext cx="20404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FD782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156608" y="4270307"/>
            <a:ext cx="12526707" cy="1183489"/>
            <a:chOff x="0" y="0"/>
            <a:chExt cx="3299215" cy="3117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99215" cy="311701"/>
            </a:xfrm>
            <a:custGeom>
              <a:avLst/>
              <a:gdLst/>
              <a:ahLst/>
              <a:cxnLst/>
              <a:rect l="l" t="t" r="r" b="b"/>
              <a:pathLst>
                <a:path w="3299215" h="311701">
                  <a:moveTo>
                    <a:pt x="0" y="0"/>
                  </a:moveTo>
                  <a:lnTo>
                    <a:pt x="3299215" y="0"/>
                  </a:lnTo>
                  <a:lnTo>
                    <a:pt x="3299215" y="311701"/>
                  </a:lnTo>
                  <a:lnTo>
                    <a:pt x="0" y="311701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42875"/>
              <a:ext cx="3299215" cy="4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438292" y="4489755"/>
            <a:ext cx="744592" cy="74459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0A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64200" y="4642976"/>
            <a:ext cx="1207128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Gerekçe Gösterme (Rationale)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08566" y="4633451"/>
            <a:ext cx="20404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FD782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182884" y="6024839"/>
            <a:ext cx="12764503" cy="1183489"/>
            <a:chOff x="0" y="0"/>
            <a:chExt cx="3361844" cy="3117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61844" cy="311701"/>
            </a:xfrm>
            <a:custGeom>
              <a:avLst/>
              <a:gdLst/>
              <a:ahLst/>
              <a:cxnLst/>
              <a:rect l="l" t="t" r="r" b="b"/>
              <a:pathLst>
                <a:path w="3361844" h="311701">
                  <a:moveTo>
                    <a:pt x="0" y="0"/>
                  </a:moveTo>
                  <a:lnTo>
                    <a:pt x="3361844" y="0"/>
                  </a:lnTo>
                  <a:lnTo>
                    <a:pt x="3361844" y="311701"/>
                  </a:lnTo>
                  <a:lnTo>
                    <a:pt x="0" y="311701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42875"/>
              <a:ext cx="3361844" cy="4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464568" y="6244288"/>
            <a:ext cx="744592" cy="74459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0A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490477" y="6397509"/>
            <a:ext cx="1207128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İzin İsteği (Request)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34843" y="6387984"/>
            <a:ext cx="20404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FD782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209161" y="7779372"/>
            <a:ext cx="12939184" cy="1183489"/>
            <a:chOff x="0" y="0"/>
            <a:chExt cx="3407851" cy="31170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407851" cy="311701"/>
            </a:xfrm>
            <a:custGeom>
              <a:avLst/>
              <a:gdLst/>
              <a:ahLst/>
              <a:cxnLst/>
              <a:rect l="l" t="t" r="r" b="b"/>
              <a:pathLst>
                <a:path w="3407851" h="311701">
                  <a:moveTo>
                    <a:pt x="0" y="0"/>
                  </a:moveTo>
                  <a:lnTo>
                    <a:pt x="3407851" y="0"/>
                  </a:lnTo>
                  <a:lnTo>
                    <a:pt x="3407851" y="311701"/>
                  </a:lnTo>
                  <a:lnTo>
                    <a:pt x="0" y="311701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142875"/>
              <a:ext cx="3407851" cy="4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90844" y="7998820"/>
            <a:ext cx="744592" cy="744592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0A1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516753" y="8152042"/>
            <a:ext cx="1207128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Sonuç Yönetimi (Callback)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61119" y="8142517"/>
            <a:ext cx="20404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FD782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9884" y="2483903"/>
            <a:ext cx="427388" cy="4273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25884"/>
            <a:ext cx="1470866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İzin Kontrolü (Check Permission)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23384" y="2497572"/>
            <a:ext cx="1280477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Anlık Durum Sorgulama: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İlgili donanıma (kamera, konum vb.) erişilmeden hemen önce </a:t>
            </a:r>
            <a:r>
              <a:rPr lang="en-US" sz="2799" i="1">
                <a:solidFill>
                  <a:srgbClr val="1250A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ContextCompat.checkSelfPermission()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 metodu ile iznin o anki durumu işletim sistemine sorulur.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12263831" y="4403736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7373415" y="0"/>
                </a:moveTo>
                <a:lnTo>
                  <a:pt x="0" y="0"/>
                </a:lnTo>
                <a:lnTo>
                  <a:pt x="0" y="6649480"/>
                </a:lnTo>
                <a:lnTo>
                  <a:pt x="7373415" y="6649480"/>
                </a:lnTo>
                <a:lnTo>
                  <a:pt x="73734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489884" y="4015314"/>
            <a:ext cx="427388" cy="42738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23384" y="4028983"/>
            <a:ext cx="12804776" cy="337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Sistemden Dönen Yanıtlar: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Bu kontrol sonucunda sistem iki farklı durum kodu döndürür: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PERMISSION_GRANTED: İzin daha önceden verilmiştir, hedeflenen işlem doğrudan başlatılır.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PERMISSION_DENIED: İzin yoktur. Bu durumda donanıma erişim anında durdurulur ve bir sonraki adım olan "İzin İsteme" veya "Gerekçe Gösterme" aşamasına geçilir.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1250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489884" y="7178571"/>
            <a:ext cx="427388" cy="42738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23384" y="7192240"/>
            <a:ext cx="1280477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Arka Plan Değişiklikleri: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Kullanıcı, cihaz ayarlarından bu izni sonradan manuel olarak kapatmış olabilir. Bu yüzden her hassas işlem öncesi bu kontrolün yapılması zorunludur.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9884" y="2483903"/>
            <a:ext cx="427388" cy="4273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25884"/>
            <a:ext cx="1470866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Gerekçe Gösterme (Rationale)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23384" y="2497572"/>
            <a:ext cx="1280477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Neden İzin İstiyoruz?: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Kullanıcı daha önce izni reddettiyse, doğrudan sistem penceresini tekrar yüzüne vurmak yerine, bu iznin uygulamanın hangi özelliği için kritik olduğu şeffaf bir şekilde açıklanır.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12263831" y="4403736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7373415" y="0"/>
                </a:moveTo>
                <a:lnTo>
                  <a:pt x="0" y="0"/>
                </a:lnTo>
                <a:lnTo>
                  <a:pt x="0" y="6649480"/>
                </a:lnTo>
                <a:lnTo>
                  <a:pt x="7373415" y="6649480"/>
                </a:lnTo>
                <a:lnTo>
                  <a:pt x="73734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489884" y="4015314"/>
            <a:ext cx="427388" cy="42738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23384" y="4028983"/>
            <a:ext cx="12804776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Sistem Metodu (</a:t>
            </a:r>
            <a:r>
              <a:rPr lang="en-US" sz="2799" b="1" i="1">
                <a:solidFill>
                  <a:srgbClr val="1250A1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shouldShowRequestPermissionRationale</a:t>
            </a: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):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Bu metot, kullanıcının izni daha önce reddedip reddetmediğini kontrol eder. Eğer reddettiyse (ama "Bir daha sorma" kutucuğunu işaretlemediyse) bu metot true döner ve özel açıklama ekranımız devreye girer.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89884" y="6000658"/>
            <a:ext cx="427388" cy="42738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23384" y="6014327"/>
            <a:ext cx="12804776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UX (Kullanıcı Deneyimi) ve Güven: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Kullanıcıyı aniden soğuk bir sistem dialoğuyla darlamak yerine, "Haritada sizi bulabilmemiz için konum iznine ihtiyacımız var" gibi bağlamsal bir ön bilgilendirme yapmak, izin onaylanma (Acceptance) oranını ciddi şekilde artırır.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9884" y="2483903"/>
            <a:ext cx="427388" cy="4273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25884"/>
            <a:ext cx="1470866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İzin İsteği (Request)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23384" y="2497572"/>
            <a:ext cx="1280477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İşletim Sistemini Tetikleme: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İzin daha önce verilmemişse veya kullanıcıya gerekçe açıklandıysa, </a:t>
            </a:r>
            <a:r>
              <a:rPr lang="en-US" sz="2799" i="1">
                <a:solidFill>
                  <a:srgbClr val="1250A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ActivityCompat.requestPermissions()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 metodu çağrılır. Bu noktada kontrol geçici olarak uygulamadan çıkar ve işletim sistemine geçer.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12263831" y="4403736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7373415" y="0"/>
                </a:moveTo>
                <a:lnTo>
                  <a:pt x="0" y="0"/>
                </a:lnTo>
                <a:lnTo>
                  <a:pt x="0" y="6649480"/>
                </a:lnTo>
                <a:lnTo>
                  <a:pt x="7373415" y="6649480"/>
                </a:lnTo>
                <a:lnTo>
                  <a:pt x="73734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489884" y="4015314"/>
            <a:ext cx="427388" cy="42738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23384" y="4028983"/>
            <a:ext cx="1280477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Standart Sistem Diyaloğu: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Ekrana gelen izin penceresi uygulamanın değil, Android veya iOS’un kendi standart arayüzüdür. Geliştirici bu pencerenin tasarımına veya buton metinlerine (İzin Ver/Reddet) doğrudan müdahale edemez.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89884" y="5581558"/>
            <a:ext cx="427388" cy="42738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23384" y="5595227"/>
            <a:ext cx="1280477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Dizi (Array) Bazlı İstek: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Aynı anda birden fazla izin (Örneğin: hem Kamera hem Mikrofon) tek bir metod çağrısıyla dizi şeklinde istenebilir. İşletim sistemi bu izinleri kullanıcıya sırasıyla onaylatır.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9884" y="2483903"/>
            <a:ext cx="427388" cy="4273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25884"/>
            <a:ext cx="1470866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Sonuç Yönetimi (Management)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23384" y="2497572"/>
            <a:ext cx="12804776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Geri Dönüş Mekanizması (Callback):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Kullanıcı izin penceresinde bir karar verdikten sonra, işletim sistemi bu kararı uygulamanın içindeki </a:t>
            </a:r>
            <a:r>
              <a:rPr lang="en-US" sz="2799" i="1">
                <a:solidFill>
                  <a:srgbClr val="1250A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onRequestPermissionsResult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 (veya modern yapılarda </a:t>
            </a:r>
            <a:r>
              <a:rPr lang="en-US" sz="2799" i="1">
                <a:solidFill>
                  <a:srgbClr val="1250A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ActivityResultLauncher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) metoduna bir sonuç koduyla beraber iletir.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12263831" y="4403736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7373415" y="0"/>
                </a:moveTo>
                <a:lnTo>
                  <a:pt x="0" y="0"/>
                </a:lnTo>
                <a:lnTo>
                  <a:pt x="0" y="6649480"/>
                </a:lnTo>
                <a:lnTo>
                  <a:pt x="7373415" y="6649480"/>
                </a:lnTo>
                <a:lnTo>
                  <a:pt x="73734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489884" y="4403736"/>
            <a:ext cx="427388" cy="42738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23384" y="4417405"/>
            <a:ext cx="1280477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Yanıtın Doğrulanması: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Geliştirici, metodun içindeki </a:t>
            </a:r>
            <a:r>
              <a:rPr lang="en-US" sz="2799" i="1">
                <a:solidFill>
                  <a:srgbClr val="1250A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grantResults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dizisini kontrol eder. Eğer dizinin ilgili indeksi </a:t>
            </a:r>
            <a:r>
              <a:rPr lang="en-US" sz="2799" i="1">
                <a:solidFill>
                  <a:srgbClr val="1250A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PERMISSION_GRANTED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 ise kullanıcı onay vermiştir ve durdurulan işlem (kamera açma vb.) kaldığı yerden devam ettirilir.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89884" y="5969980"/>
            <a:ext cx="427388" cy="42738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23384" y="5983649"/>
            <a:ext cx="12804776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Reddedilme ve "Bir Daha Sorma":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 Kullanıcı izni reddettiyse, uygulama ilgili özelliği pasif hale getirir. Eğer kullanıcı "Bir daha sorma" seçeneğini işaretleyip reddettiyse, sistem artık izin penceresini göstermez; bu durumda geliştirici kullanıcıyı ayarlar sayfasına yönlendiren bir mesaj göstermelidir.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9476" y="1405364"/>
            <a:ext cx="10589047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Token Tabanlı Yetkilendirme &amp; JWT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80680" y="6556058"/>
            <a:ext cx="14526640" cy="252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Stateless (Durumsuz) Mimari: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 Mobil cihazlar sık sık ağ değiştirdiği veya bağlantısı kesildiği için sunucuyla sürekli bir "oturum" (session/cookie) kurmak verimsizdir. JWT'de tüm yetki bilgisi token’ın kendi içinde taşınır, sunucu veritabanına bakmak yerine sadece imzayı doğrular.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80680" y="4349702"/>
            <a:ext cx="14526640" cy="188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JWT Nedir? (RFC 7519):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Sunucu tarafında oturum (Session) bilgisi tutma zorunluluğunu ortadan kaldıran, mobil uygulama ile API arasında güvenli bilgi transferi sağlayan kompakt bir standarttır.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2070397" y="-738276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7373415" y="6649480"/>
                </a:moveTo>
                <a:lnTo>
                  <a:pt x="0" y="6649480"/>
                </a:lnTo>
                <a:lnTo>
                  <a:pt x="0" y="0"/>
                </a:lnTo>
                <a:lnTo>
                  <a:pt x="7373415" y="0"/>
                </a:lnTo>
                <a:lnTo>
                  <a:pt x="7373415" y="66494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925034" y="-738276"/>
            <a:ext cx="7373415" cy="6649480"/>
          </a:xfrm>
          <a:custGeom>
            <a:avLst/>
            <a:gdLst/>
            <a:ahLst/>
            <a:cxnLst/>
            <a:rect l="l" t="t" r="r" b="b"/>
            <a:pathLst>
              <a:path w="7373415" h="6649480">
                <a:moveTo>
                  <a:pt x="0" y="6649480"/>
                </a:moveTo>
                <a:lnTo>
                  <a:pt x="7373415" y="6649480"/>
                </a:lnTo>
                <a:lnTo>
                  <a:pt x="7373415" y="0"/>
                </a:lnTo>
                <a:lnTo>
                  <a:pt x="0" y="0"/>
                </a:lnTo>
                <a:lnTo>
                  <a:pt x="0" y="66494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37030" y="715156"/>
            <a:ext cx="11013940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Token Tabanlı Yetkilendirme &amp; JWT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9914" y="6924135"/>
            <a:ext cx="14350673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Mobil İletişim: 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Uygulama, her API isteğinin HTTP başlığına (Header) “</a:t>
            </a:r>
            <a:r>
              <a:rPr lang="en-US" sz="2799" i="1">
                <a:solidFill>
                  <a:srgbClr val="1250A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Authorization: Bearer &lt;Token&gt;</a:t>
            </a: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” bilgisini ekleyerek sunucuya yetkisini ispatlar.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13602965" y="-1032826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5306098" y="4785136"/>
                </a:moveTo>
                <a:lnTo>
                  <a:pt x="0" y="4785136"/>
                </a:lnTo>
                <a:lnTo>
                  <a:pt x="0" y="0"/>
                </a:lnTo>
                <a:lnTo>
                  <a:pt x="5306098" y="0"/>
                </a:lnTo>
                <a:lnTo>
                  <a:pt x="5306098" y="47851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621063" y="-1032826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0" y="4785136"/>
                </a:moveTo>
                <a:lnTo>
                  <a:pt x="5306098" y="4785136"/>
                </a:lnTo>
                <a:lnTo>
                  <a:pt x="5306098" y="0"/>
                </a:lnTo>
                <a:lnTo>
                  <a:pt x="0" y="0"/>
                </a:lnTo>
                <a:lnTo>
                  <a:pt x="0" y="47851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29914" y="3733260"/>
            <a:ext cx="14350673" cy="253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JWT’nin Üç Bileşeni: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Header (Başlık): Kullanılan algoritma ve token tipi (JWT).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Payload (Yük): Kullanıcı rolleri (Admin, User), ID'si ve token'ın geçerlilik süresi (Exp) gibi "Claim" adı verilen veriler.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Signature (İmza): Verinin yolda değiştirilmediğini ve güvenilir bir kaynaktan geldiğini garanti eden dijital mühürdür.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09949">
            <a:off x="-4161045" y="3475777"/>
            <a:ext cx="9144000" cy="4837630"/>
          </a:xfrm>
          <a:custGeom>
            <a:avLst/>
            <a:gdLst/>
            <a:ahLst/>
            <a:cxnLst/>
            <a:rect l="l" t="t" r="r" b="b"/>
            <a:pathLst>
              <a:path w="9144000" h="4837630">
                <a:moveTo>
                  <a:pt x="0" y="0"/>
                </a:moveTo>
                <a:lnTo>
                  <a:pt x="9144000" y="0"/>
                </a:lnTo>
                <a:lnTo>
                  <a:pt x="9144000" y="4837630"/>
                </a:lnTo>
                <a:lnTo>
                  <a:pt x="0" y="4837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73267" y="620391"/>
            <a:ext cx="13626248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Cihaz Üzerinde Güvenli Veri Saklama (Secure Storage)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94821" y="3106416"/>
            <a:ext cx="624023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Plain Text (Düz Metin) Tehlikesi: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4821" y="3661847"/>
            <a:ext cx="149102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JWT gibi kritik yetkilendirme token'ları asla standart SharedPreferences (Android) veya UserDefaults (iOS) içinde şifresiz saklanmamalıdır. Kötü niyetli yazılımlar veya Root/Jailbreak işlemi görmüş cihazlarda bu veriler anında kopyalanabilir.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41948" y="4993253"/>
            <a:ext cx="530504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Android Çözümü (EncryptedSharedPreferences):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4629" y="4993253"/>
            <a:ext cx="530504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iOS Çözümü </a:t>
            </a: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(Keychain Services):</a:t>
            </a:r>
          </a:p>
        </p:txBody>
      </p:sp>
      <p:sp>
        <p:nvSpPr>
          <p:cNvPr id="8" name="AutoShape 8"/>
          <p:cNvSpPr/>
          <p:nvPr/>
        </p:nvSpPr>
        <p:spPr>
          <a:xfrm flipH="1">
            <a:off x="8772104" y="5012303"/>
            <a:ext cx="14288" cy="3495675"/>
          </a:xfrm>
          <a:prstGeom prst="line">
            <a:avLst/>
          </a:prstGeom>
          <a:ln w="28575" cap="flat">
            <a:solidFill>
              <a:srgbClr val="639FC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2341948" y="5964803"/>
            <a:ext cx="5305044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Android tarafında veriler, anahtarların donanım seviyesinde (Trusted Execution Environment) korunduğu Android Keystore sistemiyle yönetilmelidir. Token'lar AES-256-GCM algoritması ile şifrelenerek diske yazılır.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4629" y="5964803"/>
            <a:ext cx="5305044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iOS tarafında ise token'lar, işletim sisteminin sunduğu, izole edilmiş ve donanımsal olarak kriptolanmış yüksek güvenlikli Keychain kasasında saklanır.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4821" y="8753533"/>
            <a:ext cx="149102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Güvenli Yaşam Döngüsü (Cleanup):</a:t>
            </a:r>
            <a:r>
              <a:rPr lang="en-US" sz="2400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 Güvenlik sadece veriyi saklamakla bitmez. Kullanıcı çıkış (Logout) yaptığında veya token'ın süresi (Expire) dolduğunda, cihazdaki tüm şifreli token'lar kalıntı bırakmadan otomatik olarak temizlenmelidir.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7942" y="3214628"/>
            <a:ext cx="5766383" cy="2627893"/>
            <a:chOff x="0" y="0"/>
            <a:chExt cx="1518718" cy="6921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8718" cy="692120"/>
            </a:xfrm>
            <a:custGeom>
              <a:avLst/>
              <a:gdLst/>
              <a:ahLst/>
              <a:cxnLst/>
              <a:rect l="l" t="t" r="r" b="b"/>
              <a:pathLst>
                <a:path w="1518718" h="692120">
                  <a:moveTo>
                    <a:pt x="0" y="0"/>
                  </a:moveTo>
                  <a:lnTo>
                    <a:pt x="1518718" y="0"/>
                  </a:lnTo>
                  <a:lnTo>
                    <a:pt x="1518718" y="692120"/>
                  </a:lnTo>
                  <a:lnTo>
                    <a:pt x="0" y="692120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52400"/>
              <a:ext cx="1518718" cy="844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80629" y="6056918"/>
            <a:ext cx="5766383" cy="2627893"/>
            <a:chOff x="0" y="0"/>
            <a:chExt cx="1518718" cy="692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8718" cy="692120"/>
            </a:xfrm>
            <a:custGeom>
              <a:avLst/>
              <a:gdLst/>
              <a:ahLst/>
              <a:cxnLst/>
              <a:rect l="l" t="t" r="r" b="b"/>
              <a:pathLst>
                <a:path w="1518718" h="692120">
                  <a:moveTo>
                    <a:pt x="0" y="0"/>
                  </a:moveTo>
                  <a:lnTo>
                    <a:pt x="1518718" y="0"/>
                  </a:lnTo>
                  <a:lnTo>
                    <a:pt x="1518718" y="692120"/>
                  </a:lnTo>
                  <a:lnTo>
                    <a:pt x="0" y="692120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52400"/>
              <a:ext cx="1518718" cy="844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12024" y="3214628"/>
            <a:ext cx="5766383" cy="2627893"/>
            <a:chOff x="0" y="0"/>
            <a:chExt cx="1518718" cy="692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8718" cy="692120"/>
            </a:xfrm>
            <a:custGeom>
              <a:avLst/>
              <a:gdLst/>
              <a:ahLst/>
              <a:cxnLst/>
              <a:rect l="l" t="t" r="r" b="b"/>
              <a:pathLst>
                <a:path w="1518718" h="692120">
                  <a:moveTo>
                    <a:pt x="0" y="0"/>
                  </a:moveTo>
                  <a:lnTo>
                    <a:pt x="1518718" y="0"/>
                  </a:lnTo>
                  <a:lnTo>
                    <a:pt x="1518718" y="692120"/>
                  </a:lnTo>
                  <a:lnTo>
                    <a:pt x="0" y="692120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52400"/>
              <a:ext cx="1518718" cy="844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34710" y="6056918"/>
            <a:ext cx="5766383" cy="2627893"/>
            <a:chOff x="0" y="0"/>
            <a:chExt cx="1518718" cy="692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8718" cy="692120"/>
            </a:xfrm>
            <a:custGeom>
              <a:avLst/>
              <a:gdLst/>
              <a:ahLst/>
              <a:cxnLst/>
              <a:rect l="l" t="t" r="r" b="b"/>
              <a:pathLst>
                <a:path w="1518718" h="692120">
                  <a:moveTo>
                    <a:pt x="0" y="0"/>
                  </a:moveTo>
                  <a:lnTo>
                    <a:pt x="1518718" y="0"/>
                  </a:lnTo>
                  <a:lnTo>
                    <a:pt x="1518718" y="692120"/>
                  </a:lnTo>
                  <a:lnTo>
                    <a:pt x="0" y="692120"/>
                  </a:lnTo>
                  <a:close/>
                </a:path>
              </a:pathLst>
            </a:custGeom>
            <a:solidFill>
              <a:srgbClr val="FFD78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52400"/>
              <a:ext cx="1518718" cy="844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528578"/>
            <a:ext cx="11480377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Rol Tabanlı Erişim Kontrolü (RBAC)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60851" y="3407987"/>
            <a:ext cx="536056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Mantık ve Hiyerarşi: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83537" y="6303971"/>
            <a:ext cx="536056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Çift Katmanlı Koruma: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60851" y="3867589"/>
            <a:ext cx="5122179" cy="174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81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Yetkiler kullanıcılara tek tek atanmak yerine, önceden tanımlanmış "Roller" (Admin, Moderator, Standart Kullanıcı) üzerine kurgulanır. Bu sayede binlerce kullanıcının erişim hakları tek bir merkezden yönetilir.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14932" y="3407987"/>
            <a:ext cx="536056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Mobil UI/UX Adaptasyonu: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37619" y="6261621"/>
            <a:ext cx="536056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En Az Yetki İlkesi:</a:t>
            </a:r>
          </a:p>
        </p:txBody>
      </p:sp>
      <p:sp>
        <p:nvSpPr>
          <p:cNvPr id="20" name="Freeform 20"/>
          <p:cNvSpPr/>
          <p:nvPr/>
        </p:nvSpPr>
        <p:spPr>
          <a:xfrm flipH="1" flipV="1">
            <a:off x="13849113" y="-967989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5306098" y="4785136"/>
                </a:moveTo>
                <a:lnTo>
                  <a:pt x="0" y="4785136"/>
                </a:lnTo>
                <a:lnTo>
                  <a:pt x="0" y="0"/>
                </a:lnTo>
                <a:lnTo>
                  <a:pt x="5306098" y="0"/>
                </a:lnTo>
                <a:lnTo>
                  <a:pt x="5306098" y="47851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495107" y="5351547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0" y="0"/>
                </a:moveTo>
                <a:lnTo>
                  <a:pt x="5306098" y="0"/>
                </a:lnTo>
                <a:lnTo>
                  <a:pt x="5306098" y="4785135"/>
                </a:lnTo>
                <a:lnTo>
                  <a:pt x="0" y="4785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683537" y="6763574"/>
            <a:ext cx="5122179" cy="174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81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Sunucu (API) tarafı da gelen her istekte token içindeki rolü kontrol eder. Böylece art niyetli bir kullanıcı arayüzü manipüle etse bile, yetkisiz bir API çağrısı sunucu tarafından reddedilir.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37619" y="6781567"/>
            <a:ext cx="5122179" cy="171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81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 Güvenlik gereği her kullanıcıya sadece işini yapması için gereken minimum yetki tanımlanır. Bu, olası bir hesap ele geçirilme durumunda sistemin göreceği zararı minimize eder.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4932" y="3867589"/>
            <a:ext cx="5122179" cy="171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81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Mobil uygulama, giriş anında JWT içinden gelen "role" bilgisini (Claim) okur. Eğer kullanıcının rolü "Admin" değilse, hassas işlemler (Örn: Kullanıcı Silme, Ayarları Değiştirme) arayüzde tamamen gizlenir.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80398" y="1422798"/>
            <a:ext cx="8527203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7400" b="1">
                <a:solidFill>
                  <a:srgbClr val="00167A"/>
                </a:solidFill>
                <a:latin typeface="Roboto Bold"/>
                <a:ea typeface="Roboto Bold"/>
                <a:cs typeface="Roboto Bold"/>
                <a:sym typeface="Roboto Bold"/>
              </a:rPr>
              <a:t>Demo Senaryosu: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80680" y="3068853"/>
            <a:ext cx="14526640" cy="159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Runtime İzin Yönetimi: </a:t>
            </a:r>
            <a:r>
              <a:rPr lang="en-US" sz="23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Uygulama içerisinde bir donanım özelliği (örneğin Konum veya Kamera) tetiklendiğinde, sistemin izin isteme süreci ve kullanıcının izni reddetmesi durumunda uygulamanın sergilediği güvenli tutum (Rationale) gösterilecektir.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13849113" y="-967989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5306098" y="4785136"/>
                </a:moveTo>
                <a:lnTo>
                  <a:pt x="0" y="4785136"/>
                </a:lnTo>
                <a:lnTo>
                  <a:pt x="0" y="0"/>
                </a:lnTo>
                <a:lnTo>
                  <a:pt x="5306098" y="0"/>
                </a:lnTo>
                <a:lnTo>
                  <a:pt x="5306098" y="47851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3428761" y="-407794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5306098" y="4785135"/>
                </a:moveTo>
                <a:lnTo>
                  <a:pt x="0" y="4785135"/>
                </a:lnTo>
                <a:lnTo>
                  <a:pt x="0" y="0"/>
                </a:lnTo>
                <a:lnTo>
                  <a:pt x="5306098" y="0"/>
                </a:lnTo>
                <a:lnTo>
                  <a:pt x="5306098" y="47851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446859" y="-407794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0" y="4785135"/>
                </a:moveTo>
                <a:lnTo>
                  <a:pt x="5306098" y="4785135"/>
                </a:lnTo>
                <a:lnTo>
                  <a:pt x="5306098" y="0"/>
                </a:lnTo>
                <a:lnTo>
                  <a:pt x="0" y="0"/>
                </a:lnTo>
                <a:lnTo>
                  <a:pt x="0" y="47851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80680" y="4776875"/>
            <a:ext cx="14526640" cy="1055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JWT ile Kimlik Doğrulama: </a:t>
            </a:r>
            <a:r>
              <a:rPr lang="en-US" sz="23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Kullanıcı girişi sonrası sunucudan dönen JWT’nin (JSON Web Token) yapısı ve bu hassas verinin cihaz üzerinde (Encrypted Storage) nasıl şifreli olarak saklandığı incelenecektir.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80680" y="5946546"/>
            <a:ext cx="14526640" cy="159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Dinamik Yetki Kontrolü (RBAC): </a:t>
            </a:r>
            <a:r>
              <a:rPr lang="en-US" sz="23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Farklı yetkilere sahip iki ayrı kullanıcı tipiyle (Admin ve Standart Kullanıcı) giriş yapılacak; yetki seviyesine göre bazı ekranların ve butonların nasıl dinamik olarak değiştiği (gizlendiği/aktif edildiği) canlı olarak sunulacaktır.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80680" y="7659142"/>
            <a:ext cx="14526640" cy="159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Yetkisiz Erişim Engelleme: </a:t>
            </a:r>
            <a:r>
              <a:rPr lang="en-US" sz="2399">
                <a:solidFill>
                  <a:srgbClr val="1250A1"/>
                </a:solidFill>
                <a:latin typeface="Roboto"/>
                <a:ea typeface="Roboto"/>
                <a:cs typeface="Roboto"/>
                <a:sym typeface="Roboto"/>
              </a:rPr>
              <a:t>Bir kullanıcının yetkisi olmayan bir işleme veya sayfaya manuel olarak erişmeye çalışması durumunda, hem mobil uygulamanın hem de API katmanının verdiği hata tepkisi (Access Denied) simüle edilecektir.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3550" y="4276725"/>
            <a:ext cx="15525750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1250A1"/>
                </a:solidFill>
                <a:latin typeface="Roboto Bold"/>
                <a:ea typeface="Roboto Bold"/>
                <a:cs typeface="Roboto Bold"/>
                <a:sym typeface="Roboto Bold"/>
              </a:rPr>
              <a:t>TEŞEKKÜRLER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13958736" y="-979732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5306098" y="4785136"/>
                </a:moveTo>
                <a:lnTo>
                  <a:pt x="0" y="4785136"/>
                </a:lnTo>
                <a:lnTo>
                  <a:pt x="0" y="0"/>
                </a:lnTo>
                <a:lnTo>
                  <a:pt x="5306098" y="0"/>
                </a:lnTo>
                <a:lnTo>
                  <a:pt x="5306098" y="47851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4177981" y="5501864"/>
            <a:ext cx="5306098" cy="4785136"/>
          </a:xfrm>
          <a:custGeom>
            <a:avLst/>
            <a:gdLst/>
            <a:ahLst/>
            <a:cxnLst/>
            <a:rect l="l" t="t" r="r" b="b"/>
            <a:pathLst>
              <a:path w="5306098" h="4785136">
                <a:moveTo>
                  <a:pt x="5306098" y="0"/>
                </a:moveTo>
                <a:lnTo>
                  <a:pt x="0" y="0"/>
                </a:lnTo>
                <a:lnTo>
                  <a:pt x="0" y="4785136"/>
                </a:lnTo>
                <a:lnTo>
                  <a:pt x="5306098" y="4785136"/>
                </a:lnTo>
                <a:lnTo>
                  <a:pt x="53060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1551</Words>
  <Application>Microsoft Office PowerPoint</Application>
  <PresentationFormat>Özel</PresentationFormat>
  <Paragraphs>118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3" baseType="lpstr">
      <vt:lpstr>Roboto Bold</vt:lpstr>
      <vt:lpstr>Roboto Bold Italics</vt:lpstr>
      <vt:lpstr>Arial</vt:lpstr>
      <vt:lpstr>Calibri</vt:lpstr>
      <vt:lpstr>Roboto Italics</vt:lpstr>
      <vt:lpstr>Roboto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Thesis Defense Presentation</dc:title>
  <dc:creator>Hamza</dc:creator>
  <cp:lastModifiedBy>HAMZA YÜRÜK</cp:lastModifiedBy>
  <cp:revision>1</cp:revision>
  <dcterms:created xsi:type="dcterms:W3CDTF">2006-08-16T00:00:00Z</dcterms:created>
  <dcterms:modified xsi:type="dcterms:W3CDTF">2026-06-07T20:55:27Z</dcterms:modified>
  <dc:identifier>DAHLjd9cdUw</dc:identifier>
</cp:coreProperties>
</file>